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>
      <p:cViewPr varScale="1">
        <p:scale>
          <a:sx n="103" d="100"/>
          <a:sy n="103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C5132-FFA3-4B02-9F09-22FCF40EFA7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20D7-F8F1-4196-9585-26F31AFC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E42C9-243F-4DC5-AFF6-9D56B5FA9D6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EC444-603B-4F09-9A06-5917518DD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5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54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/>
          <p:cNvSpPr/>
          <p:nvPr/>
        </p:nvSpPr>
        <p:spPr bwMode="invGray">
          <a:xfrm>
            <a:off x="0" y="3936697"/>
            <a:ext cx="12192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1" y="4114800"/>
            <a:ext cx="10515598" cy="1158446"/>
          </a:xfrm>
        </p:spPr>
        <p:txBody>
          <a:bodyPr anchor="b">
            <a:normAutofit/>
          </a:bodyPr>
          <a:lstStyle>
            <a:lvl1pPr algn="l">
              <a:defRPr sz="5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338170"/>
            <a:ext cx="10515598" cy="474836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07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7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3276600"/>
            <a:ext cx="12192000" cy="2763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429000"/>
            <a:ext cx="9601200" cy="1838519"/>
          </a:xfrm>
        </p:spPr>
        <p:txBody>
          <a:bodyPr anchor="b">
            <a:normAutofit/>
          </a:bodyPr>
          <a:lstStyle>
            <a:lvl1pPr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5340096"/>
            <a:ext cx="9601200" cy="47548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735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29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5029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7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0292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14600"/>
            <a:ext cx="5029200" cy="3675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6188" y="1828800"/>
            <a:ext cx="50292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6188" y="2514600"/>
            <a:ext cx="5029200" cy="3675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9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4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1524000"/>
            <a:ext cx="3429000" cy="19050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400800" cy="5257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9000" cy="18288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6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1527048"/>
            <a:ext cx="3429000" cy="1901952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838198" y="685800"/>
            <a:ext cx="6400800" cy="5257800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8999" cy="18288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7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5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41693" y="365125"/>
            <a:ext cx="160020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344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5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invGray">
          <a:xfrm>
            <a:off x="0" y="6492239"/>
            <a:ext cx="12188825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81000" y="6549715"/>
            <a:ext cx="8442158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9685939" y="6549715"/>
            <a:ext cx="1667860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fld id="{B0FE2824-C2A0-4931-BB32-60B24BDBB3CC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799" y="6549715"/>
            <a:ext cx="446361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fld id="{B13333A4-2EF1-4B79-B68C-AB20E66B48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71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4267200"/>
            <a:ext cx="11658599" cy="1158446"/>
          </a:xfrm>
        </p:spPr>
        <p:txBody>
          <a:bodyPr>
            <a:normAutofit fontScale="90000"/>
          </a:bodyPr>
          <a:lstStyle/>
          <a:p>
            <a:r>
              <a:rPr lang="en-US" dirty="0"/>
              <a:t>Smart </a:t>
            </a:r>
            <a:r>
              <a:rPr lang="en-US" dirty="0" err="1"/>
              <a:t>Wheather</a:t>
            </a:r>
            <a:r>
              <a:rPr lang="en-US" dirty="0"/>
              <a:t> Data Pipeline </a:t>
            </a:r>
            <a:br>
              <a:rPr lang="en-US" dirty="0"/>
            </a:br>
            <a:r>
              <a:rPr lang="en-US" dirty="0"/>
              <a:t>For Jakarta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5425646"/>
            <a:ext cx="10515598" cy="474836"/>
          </a:xfrm>
        </p:spPr>
        <p:txBody>
          <a:bodyPr/>
          <a:lstStyle/>
          <a:p>
            <a:r>
              <a:rPr lang="en-US" dirty="0"/>
              <a:t>Data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2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572612"/>
            <a:ext cx="10515600" cy="1145224"/>
          </a:xfrm>
        </p:spPr>
        <p:txBody>
          <a:bodyPr/>
          <a:lstStyle/>
          <a:p>
            <a:pPr algn="ctr"/>
            <a:r>
              <a:rPr lang="en-US" dirty="0"/>
              <a:t>Background </a:t>
            </a:r>
            <a:r>
              <a:rPr lang="en-US" dirty="0" err="1"/>
              <a:t>Brainware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8FB09C0-44AB-8415-9A38-63DA8DD6A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B90FF8-E9B5-D666-D792-DB6056A99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762000"/>
            <a:ext cx="1862397" cy="2000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8D4E9B-2933-92FA-C317-2CE60CA8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914400"/>
            <a:ext cx="838200" cy="838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B5C9DB-446D-C16A-EB4D-FD2599FF6E83}"/>
              </a:ext>
            </a:extLst>
          </p:cNvPr>
          <p:cNvSpPr txBox="1"/>
          <p:nvPr/>
        </p:nvSpPr>
        <p:spPr>
          <a:xfrm>
            <a:off x="4200623" y="1071809"/>
            <a:ext cx="50289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Universitas Dian </a:t>
            </a:r>
            <a:r>
              <a:rPr lang="en-US" sz="1400" dirty="0" err="1"/>
              <a:t>Nuswantoro</a:t>
            </a:r>
            <a:r>
              <a:rPr lang="en-US" sz="1400" dirty="0"/>
              <a:t>, Informatics </a:t>
            </a:r>
            <a:r>
              <a:rPr lang="en-US" sz="1400" dirty="0" err="1"/>
              <a:t>Enginering</a:t>
            </a:r>
            <a:r>
              <a:rPr lang="en-US" sz="1400" dirty="0"/>
              <a:t> S1.</a:t>
            </a:r>
            <a:endParaRPr lang="en-ID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7575DC-7491-F5CA-3057-7086F80CD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202" y="1981200"/>
            <a:ext cx="981708" cy="9817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AA99C3-E01E-C28F-172B-A4B436D80412}"/>
              </a:ext>
            </a:extLst>
          </p:cNvPr>
          <p:cNvSpPr txBox="1"/>
          <p:nvPr/>
        </p:nvSpPr>
        <p:spPr>
          <a:xfrm>
            <a:off x="4192847" y="2085815"/>
            <a:ext cx="5330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 Engineer, at Kementerian PPN/</a:t>
            </a:r>
            <a:r>
              <a:rPr lang="en-US" sz="1400" dirty="0" err="1"/>
              <a:t>Bappenas</a:t>
            </a:r>
            <a:r>
              <a:rPr lang="en-US" sz="1400" dirty="0"/>
              <a:t>, 2023 – 2025</a:t>
            </a:r>
          </a:p>
          <a:p>
            <a:r>
              <a:rPr lang="en-US" sz="1400" dirty="0"/>
              <a:t>Database Engineer, at Kementerian Dalam Negeri, 2026-Now</a:t>
            </a:r>
            <a:endParaRPr lang="en-ID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8E7F41-FC6E-4E5F-47DE-5AEEF9026FDF}"/>
              </a:ext>
            </a:extLst>
          </p:cNvPr>
          <p:cNvSpPr txBox="1"/>
          <p:nvPr/>
        </p:nvSpPr>
        <p:spPr>
          <a:xfrm>
            <a:off x="762962" y="306521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Bappenas</a:t>
            </a:r>
            <a:endParaRPr lang="en-ID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DD44D35-E93C-13B3-D68A-CB32EA85D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3" y="2977016"/>
            <a:ext cx="609600" cy="609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285712A-BD6D-DC04-7215-5DA27A96B4A7}"/>
              </a:ext>
            </a:extLst>
          </p:cNvPr>
          <p:cNvSpPr txBox="1"/>
          <p:nvPr/>
        </p:nvSpPr>
        <p:spPr>
          <a:xfrm>
            <a:off x="-76200" y="3497467"/>
            <a:ext cx="6553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D" sz="1000" dirty="0"/>
              <a:t>• </a:t>
            </a:r>
            <a:r>
              <a:rPr lang="en-ID" sz="1000" dirty="0" err="1"/>
              <a:t>Menerapkan</a:t>
            </a:r>
            <a:r>
              <a:rPr lang="en-ID" sz="1000" dirty="0"/>
              <a:t> </a:t>
            </a:r>
            <a:r>
              <a:rPr lang="en-ID" sz="1000" dirty="0" err="1"/>
              <a:t>pelaksanaan</a:t>
            </a:r>
            <a:r>
              <a:rPr lang="en-ID" sz="1000" dirty="0"/>
              <a:t> </a:t>
            </a:r>
            <a:r>
              <a:rPr lang="en-ID" sz="1000" dirty="0" err="1"/>
              <a:t>manajemen</a:t>
            </a:r>
            <a:r>
              <a:rPr lang="en-ID" sz="1000" dirty="0"/>
              <a:t> data </a:t>
            </a:r>
            <a:r>
              <a:rPr lang="en-ID" sz="1000" dirty="0" err="1"/>
              <a:t>sebagai</a:t>
            </a:r>
            <a:r>
              <a:rPr lang="en-ID" sz="1000" dirty="0"/>
              <a:t> </a:t>
            </a:r>
            <a:r>
              <a:rPr lang="en-ID" sz="1000" dirty="0" err="1"/>
              <a:t>walidata</a:t>
            </a:r>
            <a:r>
              <a:rPr lang="en-ID" sz="1000" dirty="0"/>
              <a:t> </a:t>
            </a:r>
            <a:r>
              <a:rPr lang="en-ID" sz="1000" dirty="0" err="1"/>
              <a:t>menyesuaikan</a:t>
            </a:r>
            <a:r>
              <a:rPr lang="en-ID" sz="1000" dirty="0"/>
              <a:t> </a:t>
            </a:r>
            <a:r>
              <a:rPr lang="en-ID" sz="1000" dirty="0" err="1"/>
              <a:t>dengan</a:t>
            </a:r>
            <a:r>
              <a:rPr lang="en-ID" sz="1000" dirty="0"/>
              <a:t> </a:t>
            </a:r>
            <a:r>
              <a:rPr lang="en-ID" sz="1000" dirty="0" err="1"/>
              <a:t>peraturan</a:t>
            </a:r>
            <a:r>
              <a:rPr lang="en-ID" sz="1000" dirty="0"/>
              <a:t> </a:t>
            </a:r>
            <a:r>
              <a:rPr lang="en-ID" sz="1000" dirty="0" err="1"/>
              <a:t>instansi</a:t>
            </a:r>
            <a:r>
              <a:rPr lang="en-ID" sz="1000" dirty="0"/>
              <a:t>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Berkolaborasi</a:t>
            </a:r>
            <a:r>
              <a:rPr lang="en-ID" sz="1000" dirty="0"/>
              <a:t> </a:t>
            </a:r>
            <a:r>
              <a:rPr lang="en-ID" sz="1000" dirty="0" err="1"/>
              <a:t>antar</a:t>
            </a:r>
            <a:r>
              <a:rPr lang="en-ID" sz="1000" dirty="0"/>
              <a:t> unit </a:t>
            </a:r>
            <a:r>
              <a:rPr lang="en-ID" sz="1000" dirty="0" err="1"/>
              <a:t>kerja</a:t>
            </a:r>
            <a:r>
              <a:rPr lang="en-ID" sz="1000" dirty="0"/>
              <a:t> </a:t>
            </a:r>
            <a:r>
              <a:rPr lang="en-ID" sz="1000" dirty="0" err="1"/>
              <a:t>maupun</a:t>
            </a:r>
            <a:r>
              <a:rPr lang="en-ID" sz="1000" dirty="0"/>
              <a:t> </a:t>
            </a:r>
            <a:r>
              <a:rPr lang="en-ID" sz="1000" dirty="0" err="1"/>
              <a:t>tim</a:t>
            </a:r>
            <a:r>
              <a:rPr lang="en-ID" sz="1000" dirty="0"/>
              <a:t> di </a:t>
            </a:r>
            <a:r>
              <a:rPr lang="en-ID" sz="1000" dirty="0" err="1"/>
              <a:t>kementerian</a:t>
            </a:r>
            <a:r>
              <a:rPr lang="en-ID" sz="1000" dirty="0"/>
              <a:t> PPN/</a:t>
            </a:r>
            <a:r>
              <a:rPr lang="en-ID" sz="1000" dirty="0" err="1"/>
              <a:t>Bappenas</a:t>
            </a:r>
            <a:r>
              <a:rPr lang="en-ID" sz="1000" dirty="0"/>
              <a:t>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Berperan</a:t>
            </a:r>
            <a:r>
              <a:rPr lang="en-ID" sz="1000" dirty="0"/>
              <a:t> </a:t>
            </a:r>
            <a:r>
              <a:rPr lang="en-ID" sz="1000" dirty="0" err="1"/>
              <a:t>dalam</a:t>
            </a:r>
            <a:r>
              <a:rPr lang="en-ID" sz="1000" dirty="0"/>
              <a:t> </a:t>
            </a:r>
            <a:r>
              <a:rPr lang="en-ID" sz="1000" dirty="0" err="1"/>
              <a:t>mendukung</a:t>
            </a:r>
            <a:r>
              <a:rPr lang="en-ID" sz="1000" dirty="0"/>
              <a:t> </a:t>
            </a:r>
            <a:r>
              <a:rPr lang="en-ID" sz="1000" dirty="0" err="1"/>
              <a:t>pelaksanaan</a:t>
            </a:r>
            <a:r>
              <a:rPr lang="en-ID" sz="1000" dirty="0"/>
              <a:t> SPBE di </a:t>
            </a:r>
            <a:r>
              <a:rPr lang="en-ID" sz="1000" dirty="0" err="1"/>
              <a:t>pemerintahan</a:t>
            </a:r>
            <a:r>
              <a:rPr lang="en-ID" sz="1000" dirty="0"/>
              <a:t> </a:t>
            </a:r>
            <a:r>
              <a:rPr lang="en-ID" sz="1000" dirty="0" err="1"/>
              <a:t>terkait</a:t>
            </a:r>
            <a:r>
              <a:rPr lang="en-ID" sz="1000" dirty="0"/>
              <a:t> domain </a:t>
            </a:r>
            <a:r>
              <a:rPr lang="en-ID" sz="1000" dirty="0" err="1"/>
              <a:t>manajemen</a:t>
            </a:r>
            <a:r>
              <a:rPr lang="en-ID" sz="1000" dirty="0"/>
              <a:t> data.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Merancang</a:t>
            </a:r>
            <a:r>
              <a:rPr lang="en-ID" sz="1000" dirty="0"/>
              <a:t> basis data </a:t>
            </a:r>
            <a:r>
              <a:rPr lang="en-ID" sz="1000" dirty="0" err="1"/>
              <a:t>mencakup</a:t>
            </a:r>
            <a:r>
              <a:rPr lang="en-ID" sz="1000" dirty="0"/>
              <a:t> model </a:t>
            </a:r>
            <a:r>
              <a:rPr lang="en-ID" sz="1000" dirty="0" err="1"/>
              <a:t>konseptual</a:t>
            </a:r>
            <a:r>
              <a:rPr lang="en-ID" sz="1000" dirty="0"/>
              <a:t>, logical dan physical.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Menerapkan</a:t>
            </a:r>
            <a:r>
              <a:rPr lang="en-ID" sz="1000" dirty="0"/>
              <a:t> </a:t>
            </a:r>
            <a:r>
              <a:rPr lang="en-ID" sz="1000" dirty="0" err="1"/>
              <a:t>penjaminan</a:t>
            </a:r>
            <a:r>
              <a:rPr lang="en-ID" sz="1000" dirty="0"/>
              <a:t> </a:t>
            </a:r>
            <a:r>
              <a:rPr lang="en-ID" sz="1000" dirty="0" err="1"/>
              <a:t>kualitas</a:t>
            </a:r>
            <a:r>
              <a:rPr lang="en-ID" sz="1000" dirty="0"/>
              <a:t> data </a:t>
            </a:r>
            <a:r>
              <a:rPr lang="en-ID" sz="1000" dirty="0" err="1"/>
              <a:t>mencakup</a:t>
            </a:r>
            <a:r>
              <a:rPr lang="en-ID" sz="1000" dirty="0"/>
              <a:t> </a:t>
            </a:r>
            <a:r>
              <a:rPr lang="en-ID" sz="1000" dirty="0" err="1"/>
              <a:t>pemeriksaan</a:t>
            </a:r>
            <a:r>
              <a:rPr lang="en-ID" sz="1000" dirty="0"/>
              <a:t> metadata, model data, </a:t>
            </a:r>
            <a:r>
              <a:rPr lang="en-ID" sz="1000" dirty="0" err="1"/>
              <a:t>kamus</a:t>
            </a:r>
            <a:r>
              <a:rPr lang="en-ID" sz="1000" dirty="0"/>
              <a:t> data, </a:t>
            </a:r>
            <a:r>
              <a:rPr lang="en-ID" sz="1000" dirty="0" err="1"/>
              <a:t>dokumentasi</a:t>
            </a:r>
            <a:r>
              <a:rPr lang="en-ID" sz="1000" dirty="0"/>
              <a:t> API </a:t>
            </a:r>
            <a:r>
              <a:rPr lang="en-ID" sz="1000" dirty="0" err="1"/>
              <a:t>serta</a:t>
            </a:r>
            <a:r>
              <a:rPr lang="en-ID" sz="1000" dirty="0"/>
              <a:t> </a:t>
            </a:r>
            <a:r>
              <a:rPr lang="en-ID" sz="1000" dirty="0" err="1"/>
              <a:t>pengecekan</a:t>
            </a:r>
            <a:r>
              <a:rPr lang="en-ID" sz="1000" dirty="0"/>
              <a:t> </a:t>
            </a:r>
            <a:r>
              <a:rPr lang="en-ID" sz="1000" dirty="0" err="1"/>
              <a:t>struktur</a:t>
            </a:r>
            <a:r>
              <a:rPr lang="en-ID" sz="1000" dirty="0"/>
              <a:t> data </a:t>
            </a:r>
            <a:r>
              <a:rPr lang="en-ID" sz="1000" dirty="0" err="1"/>
              <a:t>mulai</a:t>
            </a:r>
            <a:r>
              <a:rPr lang="en-ID" sz="1000" dirty="0"/>
              <a:t> </a:t>
            </a:r>
            <a:r>
              <a:rPr lang="en-ID" sz="1000" dirty="0" err="1"/>
              <a:t>dari</a:t>
            </a:r>
            <a:r>
              <a:rPr lang="en-ID" sz="1000" dirty="0"/>
              <a:t> </a:t>
            </a:r>
            <a:r>
              <a:rPr lang="en-ID" sz="1000" dirty="0" err="1"/>
              <a:t>variabel</a:t>
            </a:r>
            <a:r>
              <a:rPr lang="en-ID" sz="1000" dirty="0"/>
              <a:t> data </a:t>
            </a:r>
            <a:r>
              <a:rPr lang="en-ID" sz="1000" dirty="0" err="1"/>
              <a:t>sampai</a:t>
            </a:r>
            <a:r>
              <a:rPr lang="en-ID" sz="1000" dirty="0"/>
              <a:t> </a:t>
            </a:r>
            <a:r>
              <a:rPr lang="en-ID" sz="1000" dirty="0" err="1"/>
              <a:t>analisa</a:t>
            </a:r>
            <a:r>
              <a:rPr lang="en-ID" sz="1000" dirty="0"/>
              <a:t> data.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Berperan</a:t>
            </a:r>
            <a:r>
              <a:rPr lang="en-ID" sz="1000" dirty="0"/>
              <a:t> </a:t>
            </a:r>
            <a:r>
              <a:rPr lang="en-ID" sz="1000" dirty="0" err="1"/>
              <a:t>dalam</a:t>
            </a:r>
            <a:r>
              <a:rPr lang="en-ID" sz="1000" dirty="0"/>
              <a:t> </a:t>
            </a:r>
            <a:r>
              <a:rPr lang="en-ID" sz="1000" dirty="0" err="1"/>
              <a:t>merancang</a:t>
            </a:r>
            <a:r>
              <a:rPr lang="en-ID" sz="1000" dirty="0"/>
              <a:t> data pipeline </a:t>
            </a:r>
            <a:r>
              <a:rPr lang="en-ID" sz="1000" dirty="0" err="1"/>
              <a:t>mencakup</a:t>
            </a:r>
            <a:r>
              <a:rPr lang="en-ID" sz="1000" dirty="0"/>
              <a:t> collect data, </a:t>
            </a:r>
            <a:r>
              <a:rPr lang="en-ID" sz="1000" dirty="0" err="1"/>
              <a:t>pengolahan</a:t>
            </a:r>
            <a:r>
              <a:rPr lang="en-ID" sz="1000" dirty="0"/>
              <a:t> data </a:t>
            </a:r>
            <a:r>
              <a:rPr lang="en-ID" sz="1000" dirty="0" err="1"/>
              <a:t>sampai</a:t>
            </a:r>
            <a:r>
              <a:rPr lang="en-ID" sz="1000" dirty="0"/>
              <a:t> </a:t>
            </a:r>
            <a:r>
              <a:rPr lang="en-ID" sz="1000" dirty="0" err="1"/>
              <a:t>interoperabilitas</a:t>
            </a:r>
            <a:r>
              <a:rPr lang="en-ID" sz="1000" dirty="0"/>
              <a:t> data.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Mengelola</a:t>
            </a:r>
            <a:r>
              <a:rPr lang="en-ID" sz="1000" dirty="0"/>
              <a:t> data </a:t>
            </a:r>
            <a:r>
              <a:rPr lang="en-ID" sz="1000" dirty="0" err="1"/>
              <a:t>statistik</a:t>
            </a:r>
            <a:r>
              <a:rPr lang="en-ID" sz="1000" dirty="0"/>
              <a:t> </a:t>
            </a:r>
            <a:r>
              <a:rPr lang="en-ID" sz="1000" dirty="0" err="1"/>
              <a:t>bersifat</a:t>
            </a:r>
            <a:r>
              <a:rPr lang="en-ID" sz="1000" dirty="0"/>
              <a:t> </a:t>
            </a:r>
            <a:r>
              <a:rPr lang="en-ID" sz="1000" dirty="0" err="1"/>
              <a:t>terbuka</a:t>
            </a:r>
            <a:r>
              <a:rPr lang="en-ID" sz="1000" dirty="0"/>
              <a:t> dan </a:t>
            </a:r>
            <a:r>
              <a:rPr lang="en-ID" sz="1000" dirty="0" err="1"/>
              <a:t>terbatas</a:t>
            </a:r>
            <a:r>
              <a:rPr lang="en-ID" sz="1000" dirty="0"/>
              <a:t> </a:t>
            </a:r>
            <a:r>
              <a:rPr lang="en-ID" sz="1000" dirty="0" err="1"/>
              <a:t>untuk</a:t>
            </a:r>
            <a:r>
              <a:rPr lang="en-ID" sz="1000" dirty="0"/>
              <a:t> </a:t>
            </a:r>
            <a:r>
              <a:rPr lang="en-ID" sz="1000" dirty="0" err="1"/>
              <a:t>kebutuhan</a:t>
            </a:r>
            <a:r>
              <a:rPr lang="en-ID" sz="1000" dirty="0"/>
              <a:t> unit </a:t>
            </a:r>
            <a:r>
              <a:rPr lang="en-ID" sz="1000" dirty="0" err="1"/>
              <a:t>kerja</a:t>
            </a:r>
            <a:r>
              <a:rPr lang="en-ID" sz="1000" dirty="0"/>
              <a:t>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Melakukan</a:t>
            </a:r>
            <a:r>
              <a:rPr lang="en-ID" sz="1000" dirty="0"/>
              <a:t> </a:t>
            </a:r>
            <a:r>
              <a:rPr lang="en-ID" sz="1000" dirty="0" err="1"/>
              <a:t>penarikan</a:t>
            </a:r>
            <a:r>
              <a:rPr lang="en-ID" sz="1000" dirty="0"/>
              <a:t> </a:t>
            </a:r>
            <a:r>
              <a:rPr lang="en-ID" sz="1000" dirty="0" err="1"/>
              <a:t>otomasi</a:t>
            </a:r>
            <a:r>
              <a:rPr lang="en-ID" sz="1000" dirty="0"/>
              <a:t> data </a:t>
            </a:r>
            <a:r>
              <a:rPr lang="en-ID" sz="1000" dirty="0" err="1"/>
              <a:t>statistik</a:t>
            </a:r>
            <a:r>
              <a:rPr lang="en-ID" sz="1000" dirty="0"/>
              <a:t> </a:t>
            </a:r>
            <a:r>
              <a:rPr lang="en-ID" sz="1000" dirty="0" err="1"/>
              <a:t>bersifat</a:t>
            </a:r>
            <a:r>
              <a:rPr lang="en-ID" sz="1000" dirty="0"/>
              <a:t> </a:t>
            </a:r>
            <a:r>
              <a:rPr lang="en-ID" sz="1000" dirty="0" err="1"/>
              <a:t>dinamis</a:t>
            </a:r>
            <a:r>
              <a:rPr lang="en-ID" sz="1000" dirty="0"/>
              <a:t> </a:t>
            </a:r>
            <a:r>
              <a:rPr lang="en-ID" sz="1000" dirty="0" err="1"/>
              <a:t>melalui</a:t>
            </a:r>
            <a:r>
              <a:rPr lang="en-ID" sz="1000" dirty="0"/>
              <a:t> API.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Mengembangkan</a:t>
            </a:r>
            <a:r>
              <a:rPr lang="en-ID" sz="1000" dirty="0"/>
              <a:t> </a:t>
            </a:r>
            <a:r>
              <a:rPr lang="en-ID" sz="1000" dirty="0" err="1"/>
              <a:t>datalake</a:t>
            </a:r>
            <a:r>
              <a:rPr lang="en-ID" sz="1000" dirty="0"/>
              <a:t> dan </a:t>
            </a:r>
            <a:r>
              <a:rPr lang="en-ID" sz="1000" dirty="0" err="1"/>
              <a:t>datawarehouse</a:t>
            </a:r>
            <a:r>
              <a:rPr lang="en-ID" sz="1000" dirty="0"/>
              <a:t>, </a:t>
            </a:r>
            <a:r>
              <a:rPr lang="en-ID" sz="1000" dirty="0" err="1"/>
              <a:t>mencakup</a:t>
            </a:r>
            <a:r>
              <a:rPr lang="en-ID" sz="1000" dirty="0"/>
              <a:t> </a:t>
            </a:r>
            <a:r>
              <a:rPr lang="en-ID" sz="1000" dirty="0" err="1"/>
              <a:t>penyediaan</a:t>
            </a:r>
            <a:r>
              <a:rPr lang="en-ID" sz="1000" dirty="0"/>
              <a:t> bucket </a:t>
            </a:r>
            <a:r>
              <a:rPr lang="en-ID" sz="1000" dirty="0" err="1"/>
              <a:t>untuk</a:t>
            </a:r>
            <a:r>
              <a:rPr lang="en-ID" sz="1000" dirty="0"/>
              <a:t> unit </a:t>
            </a:r>
            <a:r>
              <a:rPr lang="en-ID" sz="1000" dirty="0" err="1"/>
              <a:t>kerja</a:t>
            </a:r>
            <a:r>
              <a:rPr lang="en-ID" sz="1000" dirty="0"/>
              <a:t> </a:t>
            </a:r>
            <a:r>
              <a:rPr lang="en-ID" sz="1000" dirty="0" err="1"/>
              <a:t>sampai</a:t>
            </a:r>
            <a:r>
              <a:rPr lang="en-ID" sz="1000" dirty="0"/>
              <a:t> </a:t>
            </a:r>
            <a:r>
              <a:rPr lang="en-ID" sz="1000" dirty="0" err="1"/>
              <a:t>penyediaan</a:t>
            </a:r>
            <a:r>
              <a:rPr lang="en-ID" sz="1000" dirty="0"/>
              <a:t> data </a:t>
            </a:r>
            <a:r>
              <a:rPr lang="en-ID" sz="1000" dirty="0" err="1"/>
              <a:t>statistik</a:t>
            </a:r>
            <a:r>
              <a:rPr lang="en-ID" sz="1000" dirty="0"/>
              <a:t> di </a:t>
            </a:r>
            <a:r>
              <a:rPr lang="en-ID" sz="1000" dirty="0" err="1"/>
              <a:t>portaldata</a:t>
            </a:r>
            <a:r>
              <a:rPr lang="en-ID" sz="1000" dirty="0"/>
              <a:t> Kementerian PPN/</a:t>
            </a:r>
            <a:r>
              <a:rPr lang="en-ID" sz="1000" dirty="0" err="1"/>
              <a:t>Bappenas</a:t>
            </a:r>
            <a:r>
              <a:rPr lang="en-ID" sz="1000" dirty="0"/>
              <a:t>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Berperan</a:t>
            </a:r>
            <a:r>
              <a:rPr lang="en-ID" sz="1000" dirty="0"/>
              <a:t> </a:t>
            </a:r>
            <a:r>
              <a:rPr lang="en-ID" sz="1000" dirty="0" err="1"/>
              <a:t>dalam</a:t>
            </a:r>
            <a:r>
              <a:rPr lang="en-ID" sz="1000" dirty="0"/>
              <a:t> </a:t>
            </a:r>
            <a:r>
              <a:rPr lang="en-ID" sz="1000" dirty="0" err="1"/>
              <a:t>integrasi</a:t>
            </a:r>
            <a:r>
              <a:rPr lang="en-ID" sz="1000" dirty="0"/>
              <a:t> data </a:t>
            </a:r>
            <a:r>
              <a:rPr lang="en-ID" sz="1000" dirty="0" err="1"/>
              <a:t>lintas</a:t>
            </a:r>
            <a:r>
              <a:rPr lang="en-ID" sz="1000" dirty="0"/>
              <a:t> </a:t>
            </a:r>
            <a:r>
              <a:rPr lang="en-ID" sz="1000" dirty="0" err="1"/>
              <a:t>kementerian</a:t>
            </a:r>
            <a:r>
              <a:rPr lang="en-ID" sz="1000" dirty="0"/>
              <a:t> salah </a:t>
            </a:r>
            <a:r>
              <a:rPr lang="en-ID" sz="1000" dirty="0" err="1"/>
              <a:t>satunya</a:t>
            </a:r>
            <a:r>
              <a:rPr lang="en-ID" sz="1000" dirty="0"/>
              <a:t> </a:t>
            </a:r>
            <a:r>
              <a:rPr lang="en-ID" sz="1000" dirty="0" err="1"/>
              <a:t>integrasi</a:t>
            </a:r>
            <a:r>
              <a:rPr lang="en-ID" sz="1000" dirty="0"/>
              <a:t> data </a:t>
            </a:r>
            <a:r>
              <a:rPr lang="en-ID" sz="1000" dirty="0" err="1"/>
              <a:t>anggaran</a:t>
            </a:r>
            <a:r>
              <a:rPr lang="en-ID" sz="1000" dirty="0"/>
              <a:t> </a:t>
            </a:r>
            <a:r>
              <a:rPr lang="en-ID" sz="1000" dirty="0" err="1"/>
              <a:t>dari</a:t>
            </a:r>
            <a:r>
              <a:rPr lang="en-ID" sz="1000" dirty="0"/>
              <a:t> </a:t>
            </a:r>
            <a:r>
              <a:rPr lang="en-ID" sz="1000" dirty="0" err="1"/>
              <a:t>kementerian</a:t>
            </a:r>
            <a:r>
              <a:rPr lang="en-ID" sz="1000" dirty="0"/>
              <a:t> </a:t>
            </a:r>
            <a:r>
              <a:rPr lang="en-ID" sz="1000" dirty="0" err="1"/>
              <a:t>keuangan</a:t>
            </a:r>
            <a:r>
              <a:rPr lang="en-ID" sz="1000" dirty="0"/>
              <a:t>, </a:t>
            </a:r>
            <a:r>
              <a:rPr lang="en-ID" sz="1000" dirty="0" err="1"/>
              <a:t>kementerian</a:t>
            </a:r>
            <a:r>
              <a:rPr lang="en-ID" sz="1000" dirty="0"/>
              <a:t> </a:t>
            </a:r>
            <a:r>
              <a:rPr lang="en-ID" sz="1000" dirty="0" err="1"/>
              <a:t>dalam</a:t>
            </a:r>
            <a:r>
              <a:rPr lang="en-ID" sz="1000" dirty="0"/>
              <a:t> negeri dan Kementerian PPN/</a:t>
            </a:r>
            <a:r>
              <a:rPr lang="en-ID" sz="1000" dirty="0" err="1"/>
              <a:t>Bappenas</a:t>
            </a:r>
            <a:r>
              <a:rPr lang="en-ID" sz="1000" dirty="0"/>
              <a:t>, </a:t>
            </a:r>
            <a:r>
              <a:rPr lang="en-ID" sz="1000" dirty="0" err="1"/>
              <a:t>mencakup</a:t>
            </a:r>
            <a:r>
              <a:rPr lang="en-ID" sz="1000" dirty="0"/>
              <a:t> collect data </a:t>
            </a:r>
            <a:r>
              <a:rPr lang="en-ID" sz="1000" dirty="0" err="1"/>
              <a:t>sampai</a:t>
            </a:r>
            <a:r>
              <a:rPr lang="en-ID" sz="1000" dirty="0"/>
              <a:t> </a:t>
            </a:r>
            <a:r>
              <a:rPr lang="en-ID" sz="1000" dirty="0" err="1"/>
              <a:t>pemanfaatan</a:t>
            </a:r>
            <a:r>
              <a:rPr lang="en-ID" sz="1000" dirty="0"/>
              <a:t> data.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Melakukan</a:t>
            </a:r>
            <a:r>
              <a:rPr lang="en-ID" sz="1000" dirty="0"/>
              <a:t> </a:t>
            </a:r>
            <a:r>
              <a:rPr lang="en-ID" sz="1000" dirty="0" err="1"/>
              <a:t>interoperabilitas</a:t>
            </a:r>
            <a:r>
              <a:rPr lang="en-ID" sz="1000" dirty="0"/>
              <a:t> data </a:t>
            </a:r>
            <a:r>
              <a:rPr lang="en-ID" sz="1000" dirty="0" err="1"/>
              <a:t>mencakup</a:t>
            </a:r>
            <a:r>
              <a:rPr lang="en-ID" sz="1000" dirty="0"/>
              <a:t> development software </a:t>
            </a:r>
            <a:r>
              <a:rPr lang="en-ID" sz="1000" dirty="0" err="1"/>
              <a:t>sebagai</a:t>
            </a:r>
            <a:r>
              <a:rPr lang="en-ID" sz="1000" dirty="0"/>
              <a:t> backend </a:t>
            </a:r>
            <a:r>
              <a:rPr lang="en-ID" sz="1000" dirty="0" err="1"/>
              <a:t>untuk</a:t>
            </a:r>
            <a:r>
              <a:rPr lang="en-ID" sz="1000" dirty="0"/>
              <a:t> </a:t>
            </a:r>
            <a:r>
              <a:rPr lang="en-ID" sz="1000" dirty="0" err="1"/>
              <a:t>pembuatan</a:t>
            </a:r>
            <a:r>
              <a:rPr lang="en-ID" sz="1000" dirty="0"/>
              <a:t> service API.</a:t>
            </a:r>
          </a:p>
          <a:p>
            <a:pPr fontAlgn="base"/>
            <a:r>
              <a:rPr lang="en-ID" sz="1000" dirty="0"/>
              <a:t> • </a:t>
            </a:r>
            <a:r>
              <a:rPr lang="en-ID" sz="1000" dirty="0" err="1"/>
              <a:t>Memanfaatkan</a:t>
            </a:r>
            <a:r>
              <a:rPr lang="en-ID" sz="1000" dirty="0"/>
              <a:t> tools </a:t>
            </a:r>
            <a:r>
              <a:rPr lang="en-ID" sz="1000" dirty="0" err="1"/>
              <a:t>seperti</a:t>
            </a:r>
            <a:r>
              <a:rPr lang="en-ID" sz="1000" dirty="0"/>
              <a:t> Airflow, </a:t>
            </a:r>
            <a:r>
              <a:rPr lang="en-ID" sz="1000" dirty="0" err="1"/>
              <a:t>Pgbackup</a:t>
            </a:r>
            <a:r>
              <a:rPr lang="en-ID" sz="1000" dirty="0"/>
              <a:t>, </a:t>
            </a:r>
            <a:r>
              <a:rPr lang="en-ID" sz="1000" dirty="0" err="1"/>
              <a:t>laravel</a:t>
            </a:r>
            <a:r>
              <a:rPr lang="en-ID" sz="1000" dirty="0"/>
              <a:t>, </a:t>
            </a:r>
            <a:r>
              <a:rPr lang="en-ID" sz="1000" dirty="0" err="1"/>
              <a:t>ckan</a:t>
            </a:r>
            <a:r>
              <a:rPr lang="en-ID" sz="1000" dirty="0"/>
              <a:t>, docker, </a:t>
            </a:r>
            <a:r>
              <a:rPr lang="en-ID" sz="1000" dirty="0" err="1"/>
              <a:t>postgresql</a:t>
            </a:r>
            <a:r>
              <a:rPr lang="en-ID" sz="1000" dirty="0"/>
              <a:t>, python, </a:t>
            </a:r>
            <a:r>
              <a:rPr lang="en-ID" sz="1000" dirty="0" err="1"/>
              <a:t>hadoop</a:t>
            </a:r>
            <a:r>
              <a:rPr lang="en-ID" sz="1000" dirty="0"/>
              <a:t>, </a:t>
            </a:r>
            <a:r>
              <a:rPr lang="en-ID" sz="1000" dirty="0" err="1"/>
              <a:t>Vmware</a:t>
            </a:r>
            <a:r>
              <a:rPr lang="en-ID" sz="1000" dirty="0"/>
              <a:t> </a:t>
            </a:r>
            <a:r>
              <a:rPr lang="en-ID" sz="1000" dirty="0" err="1"/>
              <a:t>sebagai</a:t>
            </a:r>
            <a:r>
              <a:rPr lang="en-ID" sz="1000" dirty="0"/>
              <a:t> </a:t>
            </a:r>
            <a:r>
              <a:rPr lang="en-ID" sz="1000" dirty="0" err="1"/>
              <a:t>pengolahan</a:t>
            </a:r>
            <a:r>
              <a:rPr lang="en-ID" sz="1000" dirty="0"/>
              <a:t> data. </a:t>
            </a:r>
          </a:p>
          <a:p>
            <a:pPr fontAlgn="base"/>
            <a:r>
              <a:rPr lang="en-ID" sz="1000" dirty="0"/>
              <a:t>• </a:t>
            </a:r>
            <a:r>
              <a:rPr lang="en-ID" sz="1000" dirty="0" err="1"/>
              <a:t>Memanfaatkan</a:t>
            </a:r>
            <a:r>
              <a:rPr lang="en-ID" sz="1000" dirty="0"/>
              <a:t> tools GITLAB </a:t>
            </a:r>
            <a:r>
              <a:rPr lang="en-ID" sz="1000" dirty="0" err="1"/>
              <a:t>sebagai</a:t>
            </a:r>
            <a:r>
              <a:rPr lang="en-ID" sz="1000" dirty="0"/>
              <a:t> backup source code dan </a:t>
            </a:r>
            <a:r>
              <a:rPr lang="en-ID" sz="1000" dirty="0" err="1"/>
              <a:t>kolaborasi</a:t>
            </a:r>
            <a:r>
              <a:rPr lang="en-ID" sz="1000" dirty="0"/>
              <a:t> </a:t>
            </a:r>
            <a:r>
              <a:rPr lang="en-ID" sz="1000" dirty="0" err="1"/>
              <a:t>antar</a:t>
            </a:r>
            <a:r>
              <a:rPr lang="en-ID" sz="1000" dirty="0"/>
              <a:t> developer. • </a:t>
            </a:r>
            <a:r>
              <a:rPr lang="en-ID" sz="1000" dirty="0" err="1"/>
              <a:t>Berperan</a:t>
            </a:r>
            <a:r>
              <a:rPr lang="en-ID" sz="1000" dirty="0"/>
              <a:t> </a:t>
            </a:r>
            <a:r>
              <a:rPr lang="en-ID" sz="1000" dirty="0" err="1"/>
              <a:t>dalam</a:t>
            </a:r>
            <a:r>
              <a:rPr lang="en-ID" sz="1000" dirty="0"/>
              <a:t> </a:t>
            </a:r>
            <a:r>
              <a:rPr lang="en-ID" sz="1000" dirty="0" err="1"/>
              <a:t>publikasi</a:t>
            </a:r>
            <a:r>
              <a:rPr lang="en-ID" sz="1000" dirty="0"/>
              <a:t> data Kementerian PPN/</a:t>
            </a:r>
            <a:r>
              <a:rPr lang="en-ID" sz="1000" dirty="0" err="1"/>
              <a:t>Bappenas</a:t>
            </a:r>
            <a:r>
              <a:rPr lang="en-ID" sz="1000" dirty="0"/>
              <a:t> </a:t>
            </a:r>
            <a:r>
              <a:rPr lang="en-ID" sz="1000" dirty="0" err="1"/>
              <a:t>sebagai</a:t>
            </a:r>
            <a:r>
              <a:rPr lang="en-ID" sz="1000" dirty="0"/>
              <a:t> </a:t>
            </a:r>
            <a:r>
              <a:rPr lang="en-ID" sz="1000" dirty="0" err="1"/>
              <a:t>keterbukaan</a:t>
            </a:r>
            <a:r>
              <a:rPr lang="en-ID" sz="1000" dirty="0"/>
              <a:t> </a:t>
            </a:r>
            <a:r>
              <a:rPr lang="en-ID" sz="1000" dirty="0" err="1"/>
              <a:t>informasi</a:t>
            </a:r>
            <a:r>
              <a:rPr lang="en-ID" sz="1000" dirty="0"/>
              <a:t> </a:t>
            </a:r>
            <a:r>
              <a:rPr lang="en-ID" sz="1000" dirty="0" err="1"/>
              <a:t>melalui</a:t>
            </a:r>
            <a:r>
              <a:rPr lang="en-ID" sz="1000" dirty="0"/>
              <a:t> Portal Satu Data Indonesia (SDI).</a:t>
            </a:r>
          </a:p>
          <a:p>
            <a:br>
              <a:rPr lang="en-ID" sz="1000" dirty="0"/>
            </a:br>
            <a:endParaRPr lang="en-ID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DA739B-F390-94D0-B8C3-AFE66FB8A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000510"/>
            <a:ext cx="609600" cy="609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870E62C-8A04-411E-66D7-922EE74CEDE8}"/>
              </a:ext>
            </a:extLst>
          </p:cNvPr>
          <p:cNvSpPr txBox="1"/>
          <p:nvPr/>
        </p:nvSpPr>
        <p:spPr>
          <a:xfrm>
            <a:off x="7333172" y="3065218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Kemendagri</a:t>
            </a:r>
            <a:endParaRPr lang="en-ID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7CF8D-E564-CDBD-9FA2-4A5A3D97FC73}"/>
              </a:ext>
            </a:extLst>
          </p:cNvPr>
          <p:cNvSpPr txBox="1"/>
          <p:nvPr/>
        </p:nvSpPr>
        <p:spPr>
          <a:xfrm>
            <a:off x="6553200" y="3583673"/>
            <a:ext cx="4700326" cy="1546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/>
              <a:t>Menerapkan</a:t>
            </a:r>
            <a:r>
              <a:rPr lang="en-US" sz="1050" dirty="0"/>
              <a:t> </a:t>
            </a:r>
            <a:r>
              <a:rPr lang="en-US" sz="1050" dirty="0" err="1"/>
              <a:t>otomasi</a:t>
            </a:r>
            <a:r>
              <a:rPr lang="en-US" sz="1050" dirty="0"/>
              <a:t> scheduler </a:t>
            </a:r>
            <a:r>
              <a:rPr lang="en-US" sz="1050" dirty="0" err="1"/>
              <a:t>penarikan</a:t>
            </a:r>
            <a:r>
              <a:rPr lang="en-US" sz="1050" dirty="0"/>
              <a:t> data</a:t>
            </a:r>
            <a:r>
              <a:rPr lang="en-ID" sz="1050" dirty="0"/>
              <a:t> </a:t>
            </a:r>
            <a:r>
              <a:rPr lang="en-ID" sz="1050" dirty="0" err="1"/>
              <a:t>menggunakan</a:t>
            </a:r>
            <a:r>
              <a:rPr lang="en-ID" sz="1050" dirty="0"/>
              <a:t> airflow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050" dirty="0" err="1"/>
              <a:t>Melakukan</a:t>
            </a:r>
            <a:r>
              <a:rPr lang="en-ID" sz="1050" dirty="0"/>
              <a:t> </a:t>
            </a:r>
            <a:r>
              <a:rPr lang="en-ID" sz="1050" dirty="0" err="1"/>
              <a:t>perancangan</a:t>
            </a:r>
            <a:r>
              <a:rPr lang="en-ID" sz="1050" dirty="0"/>
              <a:t> model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050" dirty="0" err="1"/>
              <a:t>Melakukan</a:t>
            </a:r>
            <a:r>
              <a:rPr lang="en-ID" sz="1050" dirty="0"/>
              <a:t> </a:t>
            </a:r>
            <a:r>
              <a:rPr lang="en-ID" sz="1050" dirty="0" err="1"/>
              <a:t>publikasi</a:t>
            </a:r>
            <a:r>
              <a:rPr lang="en-ID" sz="1050" dirty="0"/>
              <a:t> data di SDPDN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050" dirty="0" err="1"/>
              <a:t>Melakukan</a:t>
            </a:r>
            <a:r>
              <a:rPr lang="en-ID" sz="1050" dirty="0"/>
              <a:t> </a:t>
            </a:r>
            <a:r>
              <a:rPr lang="en-ID" sz="1050" dirty="0" err="1"/>
              <a:t>otomatisasi</a:t>
            </a:r>
            <a:r>
              <a:rPr lang="en-ID" sz="1050" dirty="0"/>
              <a:t> data </a:t>
            </a:r>
            <a:r>
              <a:rPr lang="en-ID" sz="1050" dirty="0" err="1"/>
              <a:t>analisis</a:t>
            </a:r>
            <a:r>
              <a:rPr lang="en-ID" sz="1050" dirty="0"/>
              <a:t> di SIPD HUB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050" dirty="0" err="1"/>
              <a:t>Melakukan</a:t>
            </a:r>
            <a:r>
              <a:rPr lang="en-ID" sz="1050" dirty="0"/>
              <a:t> </a:t>
            </a:r>
            <a:r>
              <a:rPr lang="en-ID" sz="1050" dirty="0" err="1"/>
              <a:t>kolaborasi</a:t>
            </a:r>
            <a:r>
              <a:rPr lang="en-ID" sz="1050" dirty="0"/>
              <a:t> Lintas KL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050" dirty="0" err="1"/>
              <a:t>Menerapkan</a:t>
            </a:r>
            <a:r>
              <a:rPr lang="en-ID" sz="1050" dirty="0"/>
              <a:t> </a:t>
            </a:r>
            <a:r>
              <a:rPr lang="en-ID" sz="1050" dirty="0" err="1"/>
              <a:t>Standar</a:t>
            </a:r>
            <a:r>
              <a:rPr lang="en-ID" sz="1050" dirty="0"/>
              <a:t> Data SDPDN </a:t>
            </a:r>
            <a:r>
              <a:rPr lang="en-ID" sz="1050" dirty="0" err="1"/>
              <a:t>pasa</a:t>
            </a:r>
            <a:r>
              <a:rPr lang="en-ID" sz="1050" dirty="0"/>
              <a:t> </a:t>
            </a:r>
            <a:r>
              <a:rPr lang="en-ID" sz="1050" dirty="0" err="1"/>
              <a:t>skema</a:t>
            </a:r>
            <a:r>
              <a:rPr lang="en-ID" sz="1050" dirty="0"/>
              <a:t> </a:t>
            </a:r>
            <a:r>
              <a:rPr lang="en-ID" sz="1050" dirty="0" err="1"/>
              <a:t>penyimpanan</a:t>
            </a:r>
            <a:r>
              <a:rPr lang="en-ID" sz="1050" dirty="0"/>
              <a:t> data</a:t>
            </a:r>
          </a:p>
          <a:p>
            <a:endParaRPr lang="en-ID" sz="1050" dirty="0"/>
          </a:p>
          <a:p>
            <a:endParaRPr lang="en-ID" sz="1050" dirty="0"/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821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0" y="152400"/>
            <a:ext cx="4191000" cy="68802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Background Project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EFC3197-E45E-C6FA-9056-638583656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37901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ekstrem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semakin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terjadi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Jakarta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membutuhkan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lebih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cepat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tersedia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melalui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perlu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pipeline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 err="1">
                <a:latin typeface="Arial" panose="020B0604020202020204" pitchFamily="34" charset="0"/>
              </a:rPr>
              <a:t>Sumber</a:t>
            </a:r>
            <a:r>
              <a:rPr lang="en-US" altLang="en-US" dirty="0">
                <a:latin typeface="Arial" panose="020B0604020202020204" pitchFamily="34" charset="0"/>
              </a:rPr>
              <a:t> data di </a:t>
            </a:r>
            <a:r>
              <a:rPr lang="en-US" altLang="en-US" dirty="0" err="1">
                <a:latin typeface="Arial" panose="020B0604020202020204" pitchFamily="34" charset="0"/>
              </a:rPr>
              <a:t>ambil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berdasarkan</a:t>
            </a:r>
            <a:r>
              <a:rPr lang="en-US" altLang="en-US" dirty="0">
                <a:latin typeface="Arial" panose="020B0604020202020204" pitchFamily="34" charset="0"/>
              </a:rPr>
              <a:t> data </a:t>
            </a:r>
            <a:r>
              <a:rPr lang="en-US" altLang="en-US" dirty="0" err="1">
                <a:latin typeface="Arial" panose="020B0604020202020204" pitchFamily="34" charset="0"/>
              </a:rPr>
              <a:t>hasil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olahan</a:t>
            </a:r>
            <a:r>
              <a:rPr lang="en-US" altLang="en-US" dirty="0">
                <a:latin typeface="Arial" panose="020B0604020202020204" pitchFamily="34" charset="0"/>
              </a:rPr>
              <a:t> BMKG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6" name="Picture 8" descr="Indonesia political map divide by state png">
            <a:extLst>
              <a:ext uri="{FF2B5EF4-FFF2-40B4-BE49-F238E27FC236}">
                <a16:creationId xmlns:a16="http://schemas.microsoft.com/office/drawing/2014/main" id="{9A23EAC5-1403-FE63-BFC4-9423B04E6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24200"/>
            <a:ext cx="9271408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48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-31102"/>
            <a:ext cx="4267200" cy="625474"/>
          </a:xfrm>
        </p:spPr>
        <p:txBody>
          <a:bodyPr/>
          <a:lstStyle/>
          <a:p>
            <a:pPr algn="ctr"/>
            <a:r>
              <a:rPr lang="en-ID" dirty="0"/>
              <a:t>Problem Statement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A12466-86DE-AE5D-7ADE-808F1E8D0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325772"/>
              </p:ext>
            </p:extLst>
          </p:nvPr>
        </p:nvGraphicFramePr>
        <p:xfrm>
          <a:off x="838200" y="1295400"/>
          <a:ext cx="10363200" cy="377951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401661">
                  <a:extLst>
                    <a:ext uri="{9D8B030D-6E8A-4147-A177-3AD203B41FA5}">
                      <a16:colId xmlns:a16="http://schemas.microsoft.com/office/drawing/2014/main" val="3682361582"/>
                    </a:ext>
                  </a:extLst>
                </a:gridCol>
                <a:gridCol w="3507139">
                  <a:extLst>
                    <a:ext uri="{9D8B030D-6E8A-4147-A177-3AD203B41FA5}">
                      <a16:colId xmlns:a16="http://schemas.microsoft.com/office/drawing/2014/main" val="162707788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956861641"/>
                    </a:ext>
                  </a:extLst>
                </a:gridCol>
              </a:tblGrid>
              <a:tr h="696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dirty="0" err="1"/>
                        <a:t>Analogi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dirty="0" err="1"/>
                        <a:t>Kondisi</a:t>
                      </a:r>
                      <a:r>
                        <a:rPr lang="en-ID" dirty="0"/>
                        <a:t> Data </a:t>
                      </a:r>
                    </a:p>
                    <a:p>
                      <a:pPr algn="ctr">
                        <a:buNone/>
                      </a:pPr>
                      <a:r>
                        <a:rPr lang="en-ID" dirty="0"/>
                        <a:t>Weather Saat 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dirty="0" err="1"/>
                        <a:t>Dampak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338443"/>
                  </a:ext>
                </a:extLst>
              </a:tr>
              <a:tr h="994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/>
                        <a:t>Datanya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hanya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dilihat</a:t>
                      </a:r>
                      <a:r>
                        <a:rPr lang="en-ID" dirty="0"/>
                        <a:t> 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Data cuaca tersedia di API tetapi belum diproses otomatis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Data sulit dimanfaatkan secara 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984276"/>
                  </a:ext>
                </a:extLst>
              </a:tr>
              <a:tr h="69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/>
                        <a:t>Melihat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cuaca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hanya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dari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laporan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harian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Data API hanya diambil secara statis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Tidak ada monitoring 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642587"/>
                  </a:ext>
                </a:extLst>
              </a:tr>
              <a:tr h="69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Tidak </a:t>
                      </a:r>
                      <a:r>
                        <a:rPr lang="en-ID" dirty="0" err="1"/>
                        <a:t>ada</a:t>
                      </a:r>
                      <a:r>
                        <a:rPr lang="en-ID" dirty="0"/>
                        <a:t>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Data cuaca tersebar dan belum divisualisasikan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Sulit mendapatkan insight cepat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879731"/>
                  </a:ext>
                </a:extLst>
              </a:tr>
              <a:tr h="69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Tidak </a:t>
                      </a:r>
                      <a:r>
                        <a:rPr lang="en-ID" dirty="0" err="1"/>
                        <a:t>ada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histori</a:t>
                      </a:r>
                      <a:r>
                        <a:rPr lang="en-ID" dirty="0"/>
                        <a:t> yang </a:t>
                      </a:r>
                      <a:r>
                        <a:rPr lang="en-ID" dirty="0" err="1"/>
                        <a:t>tersimpan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Data API tidak disimpan dalam data warehouse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Sulit </a:t>
                      </a:r>
                      <a:r>
                        <a:rPr lang="en-ID" dirty="0" err="1"/>
                        <a:t>melakukan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analisis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historis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0167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58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6200"/>
            <a:ext cx="3505200" cy="644049"/>
          </a:xfrm>
        </p:spPr>
        <p:txBody>
          <a:bodyPr/>
          <a:lstStyle/>
          <a:p>
            <a:pPr algn="ctr"/>
            <a:r>
              <a:rPr lang="en-US" dirty="0"/>
              <a:t>Data Source</a:t>
            </a:r>
          </a:p>
        </p:txBody>
      </p:sp>
      <p:pic>
        <p:nvPicPr>
          <p:cNvPr id="4100" name="Picture 4" descr="logo bmkg">
            <a:extLst>
              <a:ext uri="{FF2B5EF4-FFF2-40B4-BE49-F238E27FC236}">
                <a16:creationId xmlns:a16="http://schemas.microsoft.com/office/drawing/2014/main" id="{4F20380B-3825-BBF6-ABE7-F6BA241AF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94232"/>
            <a:ext cx="1726163" cy="198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E7E776-13B9-B652-431B-7E84ACBACF06}"/>
              </a:ext>
            </a:extLst>
          </p:cNvPr>
          <p:cNvSpPr txBox="1"/>
          <p:nvPr/>
        </p:nvSpPr>
        <p:spPr>
          <a:xfrm>
            <a:off x="2286000" y="1315472"/>
            <a:ext cx="2876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Perkiraan</a:t>
            </a:r>
            <a:r>
              <a:rPr lang="en-US" dirty="0"/>
              <a:t> </a:t>
            </a:r>
          </a:p>
          <a:p>
            <a:r>
              <a:rPr lang="en-US" dirty="0" err="1"/>
              <a:t>Cuaca</a:t>
            </a:r>
            <a:r>
              <a:rPr lang="en-US" dirty="0"/>
              <a:t> Realtime BMKG</a:t>
            </a:r>
            <a:endParaRPr lang="en-ID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D83CB3-1751-53A8-DE8F-FEF84A306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516868"/>
            <a:ext cx="1981200" cy="1981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07FDBC-E908-84BB-89B1-D5AD684444FE}"/>
              </a:ext>
            </a:extLst>
          </p:cNvPr>
          <p:cNvSpPr txBox="1"/>
          <p:nvPr/>
        </p:nvSpPr>
        <p:spPr>
          <a:xfrm>
            <a:off x="2438400" y="4138136"/>
            <a:ext cx="214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Format Data </a:t>
            </a:r>
          </a:p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API</a:t>
            </a:r>
            <a:endParaRPr lang="en-ID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71F6C-AE8E-320D-8D53-DBE4ACB674B2}"/>
              </a:ext>
            </a:extLst>
          </p:cNvPr>
          <p:cNvSpPr/>
          <p:nvPr/>
        </p:nvSpPr>
        <p:spPr>
          <a:xfrm>
            <a:off x="6553200" y="914400"/>
            <a:ext cx="5257800" cy="533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BD446A-4454-327D-7C7F-C7057FE28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66800"/>
            <a:ext cx="3707758" cy="2667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9C9777E-E5E3-9BFB-242F-F30A44BBA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036" y="3833858"/>
            <a:ext cx="3402563" cy="241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2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E8CCE-0434-5F7B-FE34-C2A41CB7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1C0D2F-792E-ECE8-BF63-0933A6E4FC34}"/>
              </a:ext>
            </a:extLst>
          </p:cNvPr>
          <p:cNvSpPr/>
          <p:nvPr/>
        </p:nvSpPr>
        <p:spPr>
          <a:xfrm>
            <a:off x="3924300" y="4114800"/>
            <a:ext cx="3657600" cy="17642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Apache Spark Structure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F532A-5F32-7A73-0C6D-BF3157CF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0" y="76200"/>
            <a:ext cx="4191000" cy="6440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System </a:t>
            </a:r>
            <a:r>
              <a:rPr lang="en-US" dirty="0" err="1"/>
              <a:t>Architectue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6AC47-F43F-218C-6E1D-7C6B7A4E0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22714"/>
            <a:ext cx="1342053" cy="1342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3E8095-9D80-43C4-EF7C-3CCEF16961CA}"/>
              </a:ext>
            </a:extLst>
          </p:cNvPr>
          <p:cNvSpPr txBox="1"/>
          <p:nvPr/>
        </p:nvSpPr>
        <p:spPr>
          <a:xfrm>
            <a:off x="926063" y="3657600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Source</a:t>
            </a:r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2DA631-3668-CBBD-1613-CB73E8BB2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914400"/>
            <a:ext cx="1752600" cy="1752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8C3B82-C6B4-7DF2-965F-474A135FA3F0}"/>
              </a:ext>
            </a:extLst>
          </p:cNvPr>
          <p:cNvSpPr txBox="1"/>
          <p:nvPr/>
        </p:nvSpPr>
        <p:spPr>
          <a:xfrm>
            <a:off x="4814596" y="2793740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Kafka Streaming</a:t>
            </a:r>
            <a:endParaRPr lang="en-ID" dirty="0"/>
          </a:p>
        </p:txBody>
      </p:sp>
      <p:pic>
        <p:nvPicPr>
          <p:cNvPr id="5122" name="Picture 2" descr="Apache spark logo Icon">
            <a:extLst>
              <a:ext uri="{FF2B5EF4-FFF2-40B4-BE49-F238E27FC236}">
                <a16:creationId xmlns:a16="http://schemas.microsoft.com/office/drawing/2014/main" id="{07C204A1-9B13-3BD3-7081-95454FC0E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959" y="4114800"/>
            <a:ext cx="2437924" cy="121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8B22ECE-0D73-9741-6FA2-D3F6C72113BD}"/>
              </a:ext>
            </a:extLst>
          </p:cNvPr>
          <p:cNvCxnSpPr/>
          <p:nvPr/>
        </p:nvCxnSpPr>
        <p:spPr>
          <a:xfrm flipV="1">
            <a:off x="2423589" y="1600200"/>
            <a:ext cx="2391007" cy="119354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Arrow: Down 19">
            <a:extLst>
              <a:ext uri="{FF2B5EF4-FFF2-40B4-BE49-F238E27FC236}">
                <a16:creationId xmlns:a16="http://schemas.microsoft.com/office/drawing/2014/main" id="{302C686A-1226-0736-CFA6-F46FE53165A0}"/>
              </a:ext>
            </a:extLst>
          </p:cNvPr>
          <p:cNvSpPr/>
          <p:nvPr/>
        </p:nvSpPr>
        <p:spPr>
          <a:xfrm>
            <a:off x="5582039" y="3289812"/>
            <a:ext cx="495300" cy="583940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124" name="Picture 4" descr="Apache Airflow">
            <a:extLst>
              <a:ext uri="{FF2B5EF4-FFF2-40B4-BE49-F238E27FC236}">
                <a16:creationId xmlns:a16="http://schemas.microsoft.com/office/drawing/2014/main" id="{9FF073AB-3820-56D2-B3DA-A212C30FF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3008" y="3393233"/>
            <a:ext cx="1295400" cy="116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15DED2E-5DB0-7B0B-426F-BE6E7EC688D5}"/>
              </a:ext>
            </a:extLst>
          </p:cNvPr>
          <p:cNvCxnSpPr>
            <a:cxnSpLocks/>
            <a:stCxn id="12" idx="3"/>
            <a:endCxn id="28" idx="1"/>
          </p:cNvCxnSpPr>
          <p:nvPr/>
        </p:nvCxnSpPr>
        <p:spPr>
          <a:xfrm flipV="1">
            <a:off x="7581900" y="1600200"/>
            <a:ext cx="1924906" cy="339673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FD7014B9-A1E3-0965-393E-00F09FC4A3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6806" y="1123950"/>
            <a:ext cx="952500" cy="9525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4022E30-02FB-CA92-D943-89820506EF7B}"/>
              </a:ext>
            </a:extLst>
          </p:cNvPr>
          <p:cNvSpPr txBox="1"/>
          <p:nvPr/>
        </p:nvSpPr>
        <p:spPr>
          <a:xfrm>
            <a:off x="9442805" y="209192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Database</a:t>
            </a:r>
            <a:endParaRPr lang="en-ID" dirty="0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939E96D0-220D-CA56-256F-AC63D0A5F38E}"/>
              </a:ext>
            </a:extLst>
          </p:cNvPr>
          <p:cNvSpPr/>
          <p:nvPr/>
        </p:nvSpPr>
        <p:spPr>
          <a:xfrm>
            <a:off x="9790029" y="2568178"/>
            <a:ext cx="495300" cy="583940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143CA59-0774-D75A-2036-CA8A8B2122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408" y="5314103"/>
            <a:ext cx="952500" cy="952500"/>
          </a:xfrm>
          <a:prstGeom prst="rect">
            <a:avLst/>
          </a:prstGeom>
        </p:spPr>
      </p:pic>
      <p:sp>
        <p:nvSpPr>
          <p:cNvPr id="35" name="Arrow: Down 34">
            <a:extLst>
              <a:ext uri="{FF2B5EF4-FFF2-40B4-BE49-F238E27FC236}">
                <a16:creationId xmlns:a16="http://schemas.microsoft.com/office/drawing/2014/main" id="{FE7DE763-B09E-AF78-DC80-6A54D2F77273}"/>
              </a:ext>
            </a:extLst>
          </p:cNvPr>
          <p:cNvSpPr/>
          <p:nvPr/>
        </p:nvSpPr>
        <p:spPr>
          <a:xfrm>
            <a:off x="9881008" y="4653181"/>
            <a:ext cx="495300" cy="583940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0C950F-5CD6-E54C-32D5-EA07BF404128}"/>
              </a:ext>
            </a:extLst>
          </p:cNvPr>
          <p:cNvSpPr txBox="1"/>
          <p:nvPr/>
        </p:nvSpPr>
        <p:spPr>
          <a:xfrm>
            <a:off x="9650348" y="6266603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Grafana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39569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6770D-75F1-823A-DC06-CDAFBEED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3D6A-2953-B4C4-C22C-BDD25730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0" y="76200"/>
            <a:ext cx="4191000" cy="64404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Pipeline </a:t>
            </a:r>
            <a:r>
              <a:rPr lang="en-US" dirty="0" err="1"/>
              <a:t>Architectue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84BCD2-892F-EBCE-BEE1-ECE542334788}"/>
              </a:ext>
            </a:extLst>
          </p:cNvPr>
          <p:cNvSpPr txBox="1"/>
          <p:nvPr/>
        </p:nvSpPr>
        <p:spPr>
          <a:xfrm>
            <a:off x="10126374" y="3937872"/>
            <a:ext cx="19704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Lokasi:</a:t>
            </a:r>
          </a:p>
          <a:p>
            <a:r>
              <a:rPr lang="en-US" dirty="0" err="1"/>
              <a:t>Perkiraan</a:t>
            </a:r>
            <a:r>
              <a:rPr lang="en-US" dirty="0"/>
              <a:t> </a:t>
            </a:r>
            <a:r>
              <a:rPr lang="en-US" dirty="0" err="1"/>
              <a:t>cuaca</a:t>
            </a:r>
            <a:endParaRPr lang="en-US" dirty="0"/>
          </a:p>
          <a:p>
            <a:r>
              <a:rPr lang="en-US" dirty="0"/>
              <a:t>Historical </a:t>
            </a:r>
            <a:r>
              <a:rPr lang="en-US" dirty="0" err="1"/>
              <a:t>cuaca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370AB8-4D76-5271-C76C-FEE1B33E3798}"/>
              </a:ext>
            </a:extLst>
          </p:cNvPr>
          <p:cNvSpPr/>
          <p:nvPr/>
        </p:nvSpPr>
        <p:spPr>
          <a:xfrm>
            <a:off x="609600" y="2209800"/>
            <a:ext cx="2057400" cy="9906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Ingestion</a:t>
            </a:r>
            <a:endParaRPr lang="en-ID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8B59AC-8596-9AD2-665C-26E7E080B7D4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638300" y="3200400"/>
            <a:ext cx="0" cy="60960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686BD76-61FD-4460-0EB7-595DA61C373A}"/>
              </a:ext>
            </a:extLst>
          </p:cNvPr>
          <p:cNvSpPr txBox="1"/>
          <p:nvPr/>
        </p:nvSpPr>
        <p:spPr>
          <a:xfrm>
            <a:off x="26910" y="3881535"/>
            <a:ext cx="3243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Script – Get API</a:t>
            </a:r>
          </a:p>
          <a:p>
            <a:pPr marL="285750" indent="-285750">
              <a:buFontTx/>
              <a:buChar char="-"/>
            </a:pPr>
            <a:r>
              <a:rPr lang="en-US" dirty="0"/>
              <a:t>Kode Params </a:t>
            </a:r>
            <a:r>
              <a:rPr lang="en-US" dirty="0" err="1"/>
              <a:t>kemendagri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API </a:t>
            </a:r>
            <a:r>
              <a:rPr lang="en-US" dirty="0" err="1"/>
              <a:t>cuaca</a:t>
            </a:r>
            <a:r>
              <a:rPr lang="en-US" dirty="0"/>
              <a:t> BMKG</a:t>
            </a:r>
            <a:endParaRPr lang="en-ID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624938-7F6A-0A36-D0FD-C184DD07F958}"/>
              </a:ext>
            </a:extLst>
          </p:cNvPr>
          <p:cNvSpPr/>
          <p:nvPr/>
        </p:nvSpPr>
        <p:spPr>
          <a:xfrm>
            <a:off x="3322476" y="2181808"/>
            <a:ext cx="2057400" cy="9906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Streaming</a:t>
            </a:r>
            <a:endParaRPr lang="en-ID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41F115-AFBD-2F88-95A6-A8287F5F5552}"/>
              </a:ext>
            </a:extLst>
          </p:cNvPr>
          <p:cNvCxnSpPr>
            <a:cxnSpLocks/>
          </p:cNvCxnSpPr>
          <p:nvPr/>
        </p:nvCxnSpPr>
        <p:spPr>
          <a:xfrm>
            <a:off x="4351176" y="3226837"/>
            <a:ext cx="0" cy="60960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1A86E3F-08EE-76B8-AD16-039AA12733FF}"/>
              </a:ext>
            </a:extLst>
          </p:cNvPr>
          <p:cNvSpPr txBox="1"/>
          <p:nvPr/>
        </p:nvSpPr>
        <p:spPr>
          <a:xfrm>
            <a:off x="2941976" y="3914001"/>
            <a:ext cx="28184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Kafka</a:t>
            </a:r>
          </a:p>
          <a:p>
            <a:pPr algn="ctr"/>
            <a:r>
              <a:rPr lang="en-US" dirty="0" err="1"/>
              <a:t>Dikirim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ID" dirty="0"/>
              <a:t> :</a:t>
            </a:r>
          </a:p>
          <a:p>
            <a:pPr algn="ctr"/>
            <a:r>
              <a:rPr lang="en-US" dirty="0" err="1"/>
              <a:t>weather_jakarta_stream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58DBD65-6B00-6AF7-1E1D-12EF0E1B6035}"/>
              </a:ext>
            </a:extLst>
          </p:cNvPr>
          <p:cNvSpPr/>
          <p:nvPr/>
        </p:nvSpPr>
        <p:spPr>
          <a:xfrm>
            <a:off x="5733939" y="2156926"/>
            <a:ext cx="2057400" cy="9906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Processing</a:t>
            </a:r>
            <a:endParaRPr lang="en-ID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2C36E2-6095-C070-A421-76D13812E2D2}"/>
              </a:ext>
            </a:extLst>
          </p:cNvPr>
          <p:cNvCxnSpPr>
            <a:cxnSpLocks/>
          </p:cNvCxnSpPr>
          <p:nvPr/>
        </p:nvCxnSpPr>
        <p:spPr>
          <a:xfrm>
            <a:off x="6811347" y="3200400"/>
            <a:ext cx="0" cy="60960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5FA2082-2EA8-8C5D-F648-03872716985D}"/>
              </a:ext>
            </a:extLst>
          </p:cNvPr>
          <p:cNvSpPr txBox="1"/>
          <p:nvPr/>
        </p:nvSpPr>
        <p:spPr>
          <a:xfrm>
            <a:off x="6176563" y="3862874"/>
            <a:ext cx="13628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Cleaning</a:t>
            </a:r>
          </a:p>
          <a:p>
            <a:r>
              <a:rPr lang="en-US" dirty="0"/>
              <a:t>Validation</a:t>
            </a:r>
          </a:p>
          <a:p>
            <a:r>
              <a:rPr lang="en-US" dirty="0" err="1"/>
              <a:t>Agregation</a:t>
            </a:r>
            <a:endParaRPr lang="en-ID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D6833A-7B13-8882-D72C-D40BC9A5691D}"/>
              </a:ext>
            </a:extLst>
          </p:cNvPr>
          <p:cNvSpPr/>
          <p:nvPr/>
        </p:nvSpPr>
        <p:spPr>
          <a:xfrm>
            <a:off x="8001000" y="2156926"/>
            <a:ext cx="2057400" cy="9906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  <a:endParaRPr lang="en-ID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1DCAF2-7BA8-5745-FCEB-A9257AED68E3}"/>
              </a:ext>
            </a:extLst>
          </p:cNvPr>
          <p:cNvSpPr txBox="1"/>
          <p:nvPr/>
        </p:nvSpPr>
        <p:spPr>
          <a:xfrm>
            <a:off x="8297930" y="3937872"/>
            <a:ext cx="1377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Warehouse</a:t>
            </a:r>
            <a:endParaRPr lang="en-ID" dirty="0"/>
          </a:p>
          <a:p>
            <a:pPr algn="ctr"/>
            <a:r>
              <a:rPr lang="en-ID" dirty="0"/>
              <a:t>historical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1F8843-FF3B-717B-8163-E30DE94740FD}"/>
              </a:ext>
            </a:extLst>
          </p:cNvPr>
          <p:cNvCxnSpPr>
            <a:cxnSpLocks/>
          </p:cNvCxnSpPr>
          <p:nvPr/>
        </p:nvCxnSpPr>
        <p:spPr>
          <a:xfrm>
            <a:off x="9023480" y="3253274"/>
            <a:ext cx="0" cy="60960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43DBFF8-EC83-90FE-F558-ECD56150CFDC}"/>
              </a:ext>
            </a:extLst>
          </p:cNvPr>
          <p:cNvSpPr/>
          <p:nvPr/>
        </p:nvSpPr>
        <p:spPr>
          <a:xfrm>
            <a:off x="10189775" y="2152261"/>
            <a:ext cx="1849794" cy="9906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Visualitation</a:t>
            </a:r>
            <a:endParaRPr lang="en-ID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B6BCCB-05D6-8021-4095-5B5422C7F79E}"/>
              </a:ext>
            </a:extLst>
          </p:cNvPr>
          <p:cNvCxnSpPr>
            <a:cxnSpLocks/>
          </p:cNvCxnSpPr>
          <p:nvPr/>
        </p:nvCxnSpPr>
        <p:spPr>
          <a:xfrm>
            <a:off x="11114672" y="3271935"/>
            <a:ext cx="0" cy="609600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121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9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TY SKETCH 16X9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3.potx" id="{55B65C5C-2110-41C9-9432-67D739EC5CFC}" vid="{FDE12540-4521-4F30-863D-D54DD2EE1C3B}"/>
    </a:ext>
  </a:extLst>
</a:theme>
</file>

<file path=ppt/theme/theme2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office city sketch presentation background (widescreen)</Template>
  <TotalTime>469</TotalTime>
  <Words>510</Words>
  <Application>Microsoft Office PowerPoint</Application>
  <PresentationFormat>Widescreen</PresentationFormat>
  <Paragraphs>87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Schoolbook</vt:lpstr>
      <vt:lpstr>CITY SKETCH 16X9</vt:lpstr>
      <vt:lpstr>Smart Wheather Data Pipeline  For Jakarta </vt:lpstr>
      <vt:lpstr>Background Brainware</vt:lpstr>
      <vt:lpstr>Background Project</vt:lpstr>
      <vt:lpstr>Problem Statement</vt:lpstr>
      <vt:lpstr>Data Source</vt:lpstr>
      <vt:lpstr>System Architectue</vt:lpstr>
      <vt:lpstr>Pipeline Architectue</vt:lpstr>
      <vt:lpstr>Add a Slide Title - 1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kukuh biyantama</dc:creator>
  <cp:lastModifiedBy>kukuh biyantama</cp:lastModifiedBy>
  <cp:revision>11</cp:revision>
  <dcterms:created xsi:type="dcterms:W3CDTF">2026-03-15T10:25:00Z</dcterms:created>
  <dcterms:modified xsi:type="dcterms:W3CDTF">2026-03-15T18:14:17Z</dcterms:modified>
</cp:coreProperties>
</file>